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Lato"/>
      <p:regular r:id="rId17"/>
      <p:bold r:id="rId18"/>
      <p:italic r:id="rId19"/>
      <p:boldItalic r:id="rId20"/>
    </p:embeddedFon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5E5188-D9D3-4E18-826A-338ED07B193E}">
  <a:tblStyle styleId="{235E5188-D9D3-4E18-826A-338ED07B193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5.xml"/><Relationship Id="rId22" Type="http://schemas.openxmlformats.org/officeDocument/2006/relationships/font" Target="fonts/Poppins-bold.fntdata"/><Relationship Id="rId10" Type="http://schemas.openxmlformats.org/officeDocument/2006/relationships/slide" Target="slides/slide4.xml"/><Relationship Id="rId21" Type="http://schemas.openxmlformats.org/officeDocument/2006/relationships/font" Target="fonts/Poppins-regular.fntdata"/><Relationship Id="rId13" Type="http://schemas.openxmlformats.org/officeDocument/2006/relationships/slide" Target="slides/slide7.xml"/><Relationship Id="rId24" Type="http://schemas.openxmlformats.org/officeDocument/2006/relationships/font" Target="fonts/Poppins-boldItalic.fntdata"/><Relationship Id="rId12" Type="http://schemas.openxmlformats.org/officeDocument/2006/relationships/slide" Target="slides/slide6.xml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a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La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0" Type="http://schemas.openxmlformats.org/officeDocument/2006/relationships/image" Target="../media/image17.png"/><Relationship Id="rId9" Type="http://schemas.openxmlformats.org/officeDocument/2006/relationships/image" Target="../media/image5.png"/><Relationship Id="rId5" Type="http://schemas.openxmlformats.org/officeDocument/2006/relationships/image" Target="../media/image30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31.png"/><Relationship Id="rId6" Type="http://schemas.openxmlformats.org/officeDocument/2006/relationships/image" Target="../media/image27.png"/><Relationship Id="rId7" Type="http://schemas.openxmlformats.org/officeDocument/2006/relationships/image" Target="../media/image29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28.png"/><Relationship Id="rId7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5600" y="3944391"/>
            <a:ext cx="6543675" cy="172744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005262" y="1186160"/>
            <a:ext cx="43243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D1C24"/>
                </a:solidFill>
                <a:latin typeface="Lato"/>
                <a:ea typeface="Lato"/>
                <a:cs typeface="Lato"/>
                <a:sym typeface="Lato"/>
              </a:rPr>
              <a:t>CO-OP Project at Industry (Module-2)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41721" y="1521321"/>
            <a:ext cx="11451431" cy="185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Artificial Intelligence Driven Threat Detection in Modern Cybersecurity Systems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895600" y="4153941"/>
            <a:ext cx="65436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Jiya Jain, Srishti Garg, Aradhna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895600" y="4489102"/>
            <a:ext cx="65436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Bachelor of Engineering | Computer Science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895600" y="4967138"/>
            <a:ext cx="65436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Supervised By: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Industry Mentor/Team Lead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895600" y="5397549"/>
            <a:ext cx="6543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Department of CSE, Chitkara University, Punjab</a:t>
            </a:r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2875" y="0"/>
            <a:ext cx="12049124" cy="94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7937" y="1785937"/>
            <a:ext cx="5262562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14375" y="118080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1. INTRODUCTION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714375" y="1266825"/>
            <a:ext cx="109061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714375" y="2325588"/>
            <a:ext cx="5262562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Cybersecurity has shifted from rule-enforcement to a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continuous inference problem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7462" y="2647354"/>
            <a:ext cx="5243512" cy="256341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14375" y="3186410"/>
            <a:ext cx="5262562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High-volume telemetry from firewalls &amp; logs.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14375" y="3521571"/>
            <a:ext cx="5262562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Traditional systems fail against "low-and-slow" attacks.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14375" y="4191892"/>
            <a:ext cx="5262562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AI enables learning from historical data to flag unseen intrusions.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14375" y="4862214"/>
            <a:ext cx="5262562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Motivation: Balancing false alarms with threat coverage.</a:t>
            </a:r>
            <a:endParaRPr/>
          </a:p>
        </p:txBody>
      </p:sp>
      <p:pic>
        <p:nvPicPr>
          <p:cNvPr id="107" name="Google Shape;10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26325" y="0"/>
            <a:ext cx="12192000" cy="88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1571625"/>
            <a:ext cx="10906125" cy="471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2191047"/>
            <a:ext cx="3476625" cy="2997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29125" y="2191047"/>
            <a:ext cx="3476625" cy="2997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3875" y="2191047"/>
            <a:ext cx="3476625" cy="299799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714375" y="1105825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2. METHODOLOGY: NSL-KDD DATASET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714375" y="1266825"/>
            <a:ext cx="109061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0125" y="251489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1000125" y="3086397"/>
            <a:ext cx="30503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Benchmark Data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00125" y="3562647"/>
            <a:ext cx="290512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Utilized NSL-KDD, a refined version of KDD Cup 99, to reduce redundancy and improve accuracy.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4875" y="251489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4714875" y="3086397"/>
            <a:ext cx="30503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41 Features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714875" y="3562647"/>
            <a:ext cx="290512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Covers basic connection properties, traffic content indicators, and host-based statistics.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9625" y="251489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8429625" y="3086397"/>
            <a:ext cx="30503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Class Taxonomy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429625" y="3562647"/>
            <a:ext cx="290512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Binary (Normal vs Attack) and Multi-class (DoS, Probe, R2L, and U2R families).</a:t>
            </a:r>
            <a:endParaRPr/>
          </a:p>
        </p:txBody>
      </p:sp>
      <p:pic>
        <p:nvPicPr>
          <p:cNvPr id="129" name="Google Shape;129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0" y="-57450"/>
            <a:ext cx="12165676" cy="100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1785937"/>
            <a:ext cx="5262562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574975" y="134185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3. TOOLS &amp; TECHNOLOGIES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714375" y="1266825"/>
            <a:ext cx="109061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" y="2643336"/>
            <a:ext cx="5243512" cy="257130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6357937" y="2690217"/>
            <a:ext cx="552569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Algorithms Evaluated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357937" y="4832746"/>
            <a:ext cx="5262562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Stack: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Python, Scikit-Learn, TensorFlow, Keras.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472237" y="296739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596062" y="2966442"/>
            <a:ext cx="502443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XGBoost: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Gradient Boosting for speed.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472237" y="330255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596062" y="3301603"/>
            <a:ext cx="502443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Random Forest: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Ensemble accuracy.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472237" y="3637716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596062" y="3636764"/>
            <a:ext cx="502443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Decision Tree: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Rule-based explainability.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472237" y="397287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596062" y="3971925"/>
            <a:ext cx="502443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SVM &amp; ANN: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Complex nonlinear patterns.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472237" y="430803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596062" y="4307085"/>
            <a:ext cx="502443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Isolation Forest: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Anomaly scoring.</a:t>
            </a:r>
            <a:endParaRPr/>
          </a:p>
        </p:txBody>
      </p:sp>
      <p:pic>
        <p:nvPicPr>
          <p:cNvPr id="152" name="Google Shape;15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2794694"/>
            <a:ext cx="10906126" cy="847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4023419"/>
            <a:ext cx="3476625" cy="1756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29125" y="4023419"/>
            <a:ext cx="3476625" cy="1756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3875" y="4023419"/>
            <a:ext cx="3476625" cy="175617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714375" y="1266825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4. HYBRID EXTENSION FRAMEWORK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714375" y="1266825"/>
            <a:ext cx="109061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714375" y="2078533"/>
            <a:ext cx="109061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Combining Supervised certainty with Unsupervised suspicion for "Zero-Day" detection.</a:t>
            </a:r>
            <a:endParaRPr/>
          </a:p>
        </p:txBody>
      </p:sp>
      <p:pic>
        <p:nvPicPr>
          <p:cNvPr descr="image.png" id="166" name="Google Shape;16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0125" y="3080444"/>
            <a:ext cx="103346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1000125" y="4347269"/>
            <a:ext cx="30503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Autoencoder (A)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00125" y="4823519"/>
            <a:ext cx="2905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Measures reconstruction error of normal traffic patterns.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4714875" y="4347269"/>
            <a:ext cx="30503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Isolation Forest (I)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4714875" y="4823519"/>
            <a:ext cx="2905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Identifies outliers in sparse regions of feature space.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429625" y="4347269"/>
            <a:ext cx="30503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Structure (S)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429625" y="4823519"/>
            <a:ext cx="290512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Integrates contextual or structural threat signals.</a:t>
            </a:r>
            <a:endParaRPr/>
          </a:p>
        </p:txBody>
      </p:sp>
      <p:pic>
        <p:nvPicPr>
          <p:cNvPr id="173" name="Google Shape;173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49700"/>
            <a:ext cx="12165674" cy="8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1571625"/>
            <a:ext cx="10906125" cy="4764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7937" y="1571625"/>
            <a:ext cx="5262562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714375" y="1129075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5. BINARY CLASSIFICATION RESULTS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714375" y="1266825"/>
            <a:ext cx="109061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4" name="Google Shape;184;p18"/>
          <p:cNvGraphicFramePr/>
          <p:nvPr/>
        </p:nvGraphicFramePr>
        <p:xfrm>
          <a:off x="714375" y="2609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{235E5188-D9D3-4E18-826A-338ED07B193E}</a:tableStyleId>
              </a:tblPr>
              <a:tblGrid>
                <a:gridCol w="1360300"/>
                <a:gridCol w="1131825"/>
                <a:gridCol w="1122025"/>
                <a:gridCol w="873775"/>
                <a:gridCol w="774650"/>
              </a:tblGrid>
              <a:tr h="46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FPR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1C24"/>
                    </a:solidFill>
                  </a:tcPr>
                </a:tc>
              </a:tr>
              <a:tr h="46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XGBoost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80.09%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96.78%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67.26%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2.96%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Decision Tree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78.77%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96.49%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65.07%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3.13%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</a:tr>
              <a:tr h="46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SVM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78.19%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97.57%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63.27%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2.08%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77.30%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97.15%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61.93%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2.40%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7462" y="2237630"/>
            <a:ext cx="5243512" cy="295408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/>
          <p:nvPr/>
        </p:nvSpPr>
        <p:spPr>
          <a:xfrm>
            <a:off x="714375" y="3557587"/>
            <a:ext cx="13602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2074664" y="3557587"/>
            <a:ext cx="11318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3206501" y="3557587"/>
            <a:ext cx="11220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4328517" y="3557587"/>
            <a:ext cx="8737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5202287" y="3557587"/>
            <a:ext cx="774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714375" y="4005262"/>
            <a:ext cx="13602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2074664" y="4005262"/>
            <a:ext cx="11318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3206501" y="4005262"/>
            <a:ext cx="11220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4328517" y="4005262"/>
            <a:ext cx="8737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5202287" y="4005262"/>
            <a:ext cx="774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714375" y="4452937"/>
            <a:ext cx="13602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2074664" y="4452937"/>
            <a:ext cx="11318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3206501" y="4452937"/>
            <a:ext cx="11220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4328517" y="4452937"/>
            <a:ext cx="8737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5202287" y="4452937"/>
            <a:ext cx="774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714375" y="4900612"/>
            <a:ext cx="13602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2074664" y="4900612"/>
            <a:ext cx="11318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3206501" y="4900612"/>
            <a:ext cx="11220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4328517" y="4900612"/>
            <a:ext cx="8737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5202287" y="4900612"/>
            <a:ext cx="7746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0"/>
            <a:ext cx="12192000" cy="74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1785937"/>
            <a:ext cx="5262562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/>
          <p:nvPr/>
        </p:nvSpPr>
        <p:spPr>
          <a:xfrm>
            <a:off x="-16800" y="0"/>
            <a:ext cx="159600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723900" y="116680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6. MULTI-CLASS CLASSIFICATION</a:t>
            </a:r>
            <a:endParaRPr/>
          </a:p>
        </p:txBody>
      </p:sp>
      <p:sp>
        <p:nvSpPr>
          <p:cNvPr id="215" name="Google Shape;215;p19"/>
          <p:cNvSpPr/>
          <p:nvPr/>
        </p:nvSpPr>
        <p:spPr>
          <a:xfrm>
            <a:off x="714375" y="1266825"/>
            <a:ext cx="109061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6357937" y="2569835"/>
            <a:ext cx="5525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Attack Family Performance</a:t>
            </a:r>
            <a:endParaRPr/>
          </a:p>
        </p:txBody>
      </p:sp>
      <p:graphicFrame>
        <p:nvGraphicFramePr>
          <p:cNvPr id="217" name="Google Shape;217;p19"/>
          <p:cNvGraphicFramePr/>
          <p:nvPr/>
        </p:nvGraphicFramePr>
        <p:xfrm>
          <a:off x="714374" y="27213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{235E5188-D9D3-4E18-826A-338ED07B193E}</a:tableStyleId>
              </a:tblPr>
              <a:tblGrid>
                <a:gridCol w="2376050"/>
                <a:gridCol w="1530850"/>
                <a:gridCol w="1355675"/>
              </a:tblGrid>
              <a:tr h="46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 (%)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1C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F1 (%)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1C24"/>
                    </a:solidFill>
                  </a:tcPr>
                </a:tc>
              </a:tr>
              <a:tr h="46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Decision Tree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76.80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73.52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XGBoost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75.74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71.04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2F2"/>
                    </a:solidFill>
                  </a:tcPr>
                </a:tc>
              </a:tr>
              <a:tr h="46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 Forest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75.00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70.72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" name="Google Shape;218;p19"/>
          <p:cNvSpPr txBox="1"/>
          <p:nvPr/>
        </p:nvSpPr>
        <p:spPr>
          <a:xfrm>
            <a:off x="6357937" y="3000772"/>
            <a:ext cx="52626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Decision Trees perform best in multi-class tasks due to their ability to capture complex feature interactions with explainable rules.</a:t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6357937" y="3764309"/>
            <a:ext cx="23760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8733978" y="3764309"/>
            <a:ext cx="1530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10264824" y="3764309"/>
            <a:ext cx="1355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6357937" y="4211984"/>
            <a:ext cx="23760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8733978" y="4211984"/>
            <a:ext cx="1530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10264824" y="4211984"/>
            <a:ext cx="1355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6357937" y="4659659"/>
            <a:ext cx="23760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8733978" y="4659659"/>
            <a:ext cx="15308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10264824" y="4659659"/>
            <a:ext cx="1355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6800" y="-45800"/>
            <a:ext cx="12192000" cy="81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7937" y="1785937"/>
            <a:ext cx="5262562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714375" y="185995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7. MAJOR FINDINGS &amp; DATA INSIGHTS</a:t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714375" y="1266825"/>
            <a:ext cx="109061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714375" y="2642592"/>
            <a:ext cx="552569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Top Threat Signals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833413" y="4352200"/>
            <a:ext cx="5262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Training time analysis shows tree-based models process traffic 10x faster than SVM, crucial for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Line-Rate Processing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828675" y="291976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952500" y="2918817"/>
            <a:ext cx="502443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Service: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Critical indicator of target vulnerability.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828675" y="325493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952500" y="3253978"/>
            <a:ext cx="502443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Src_Bytes: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Fundamental to volumetric DoS detection.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828675" y="359009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952500" y="3589139"/>
            <a:ext cx="502443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Dst_Host_Srv_Count: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Key for probe/recon detection.</a:t>
            </a:r>
            <a:endParaRPr/>
          </a:p>
        </p:txBody>
      </p:sp>
      <p:pic>
        <p:nvPicPr>
          <p:cNvPr id="246" name="Google Shape;24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2165676" cy="7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2405360"/>
            <a:ext cx="3476625" cy="24264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29125" y="2405360"/>
            <a:ext cx="3476625" cy="24264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3875" y="2405360"/>
            <a:ext cx="3476625" cy="242649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714375" y="1285875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8. CONCLUSION &amp; FUTURE SCOPE</a:t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714375" y="1266825"/>
            <a:ext cx="109061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904875" y="5117603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Integrating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Explainable AI (XAI)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via SHAP values to help SOC analysts interpret machine learning triage decisions.</a:t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714375" y="5117603"/>
            <a:ext cx="47625" cy="3351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1000125" y="2729210"/>
            <a:ext cx="30503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Outcome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1000125" y="3205460"/>
            <a:ext cx="290512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XGBoost and Decision Trees are the strongest production baselines for structured tabular cybersecurity data.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4714875" y="2729210"/>
            <a:ext cx="30503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Recall Gap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4714875" y="3205460"/>
            <a:ext cx="290512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Supervised models alone leave a 30% gap in attack coverage, necessitating the hybrid anomaly extension.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8429625" y="2729210"/>
            <a:ext cx="305038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Future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8429625" y="3205460"/>
            <a:ext cx="290512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Moving beyond static records to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Sequential Analysis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using Recurrent Neural Networks (RNNs).</a:t>
            </a:r>
            <a:endParaRPr/>
          </a:p>
        </p:txBody>
      </p:sp>
      <p:pic>
        <p:nvPicPr>
          <p:cNvPr id="266" name="Google Shape;26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0"/>
            <a:ext cx="12165676" cy="83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3802141" y="1729829"/>
            <a:ext cx="473059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ED1C24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4857750" y="3025229"/>
            <a:ext cx="26193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Questions &amp; Feedback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4338637" y="4023419"/>
            <a:ext cx="36576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Jiya Jain | Srishti Garg | Aradhna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4338637" y="4358580"/>
            <a:ext cx="36576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Department of CSE, Chitkara University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4338637" y="4884241"/>
            <a:ext cx="3657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Email: [Student IDs]@chitkara.edu.in</a:t>
            </a:r>
            <a:endParaRPr/>
          </a:p>
        </p:txBody>
      </p:sp>
      <p:pic>
        <p:nvPicPr>
          <p:cNvPr id="278" name="Google Shape;27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20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